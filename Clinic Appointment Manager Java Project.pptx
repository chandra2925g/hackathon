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3" r:id="rId9"/>
  </p:sldIdLst>
  <p:sldSz cx="18288000" cy="10287000"/>
  <p:notesSz cx="6858000" cy="9144000"/>
  <p:embeddedFontLst>
    <p:embeddedFont>
      <p:font typeface="Open Sauce" panose="020B0604020202020204" charset="0"/>
      <p:regular r:id="rId10"/>
    </p:embeddedFont>
    <p:embeddedFont>
      <p:font typeface="Open Sauce Bold" panose="020B0604020202020204" charset="0"/>
      <p:regular r:id="rId11"/>
    </p:embeddedFont>
    <p:embeddedFont>
      <p:font typeface="Open Sauce Heavy" panose="020B0604020202020204" charset="0"/>
      <p:regular r:id="rId12"/>
    </p:embeddedFont>
    <p:embeddedFont>
      <p:font typeface="Open Sauce Medium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51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0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31520" y="1176087"/>
            <a:ext cx="9418320" cy="3059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32"/>
              </a:lnSpc>
            </a:pPr>
            <a:r>
              <a:rPr lang="en-US" sz="6694" b="1">
                <a:solidFill>
                  <a:srgbClr val="133B6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KLEHB-FED-26-10-8 - Clinic Appointment &amp; Prescription Manager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8096" y="5036329"/>
            <a:ext cx="5413248" cy="131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546" b="1">
                <a:solidFill>
                  <a:srgbClr val="133B6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Java-based system for managing appointments, prescriptions, and patient history.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8096" y="6895220"/>
            <a:ext cx="2377440" cy="346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30" b="1">
                <a:solidFill>
                  <a:srgbClr val="3896B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MEMBERS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8096" y="7454501"/>
            <a:ext cx="3401568" cy="42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546" b="1">
                <a:solidFill>
                  <a:srgbClr val="133B6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2620030354 – Sujan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8096" y="8061434"/>
            <a:ext cx="4681728" cy="42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546" b="1">
                <a:solidFill>
                  <a:srgbClr val="133B6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2620030636 – Chandra Paul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0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1099873"/>
            <a:ext cx="5394960" cy="210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12"/>
              </a:lnSpc>
            </a:pPr>
            <a:r>
              <a:rPr lang="en-US" sz="7466" b="1">
                <a:solidFill>
                  <a:srgbClr val="103560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0976" y="4088867"/>
            <a:ext cx="6144768" cy="384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3" b="1">
                <a:solidFill>
                  <a:srgbClr val="1035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Appointment clashes and double booking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0976" y="4799012"/>
            <a:ext cx="6455664" cy="383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2330" b="1">
                <a:solidFill>
                  <a:srgbClr val="1035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Patient uncertainty about doctor availability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0976" y="5498528"/>
            <a:ext cx="6217920" cy="383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2330" b="1">
                <a:solidFill>
                  <a:srgbClr val="1035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Difficulty maintaining prescription records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0976" y="6197702"/>
            <a:ext cx="7370064" cy="384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3" b="1">
                <a:solidFill>
                  <a:srgbClr val="1035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Manual management leads to errors and data loss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0976" y="6911438"/>
            <a:ext cx="5650992" cy="872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6"/>
              </a:lnSpc>
            </a:pPr>
            <a:r>
              <a:rPr lang="en-US" sz="2384" b="1">
                <a:solidFill>
                  <a:srgbClr val="1035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Need for a simple computerized clinic management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4820"/>
            <a:ext cx="18288000" cy="1042650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0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877824" y="158555"/>
            <a:ext cx="8046720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990"/>
              </a:lnSpc>
            </a:pPr>
            <a:r>
              <a:rPr lang="en-US" sz="6176" b="1" dirty="0">
                <a:solidFill>
                  <a:srgbClr val="00336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Existing Problems &amp; Need for the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16352" y="2833906"/>
            <a:ext cx="2999232" cy="25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0"/>
              </a:lnSpc>
            </a:pPr>
            <a:r>
              <a:rPr lang="en-US" sz="197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CURRENT CHALLENGES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92640" y="2833906"/>
            <a:ext cx="3877056" cy="25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0"/>
              </a:lnSpc>
            </a:pPr>
            <a:r>
              <a:rPr lang="en-US" sz="197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IMPACT ON CLINIC &amp; PATIENTS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82112" y="3798378"/>
            <a:ext cx="3438144" cy="238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6"/>
              </a:lnSpc>
            </a:pPr>
            <a:r>
              <a:rPr lang="en-US" sz="1924">
                <a:solidFill>
                  <a:srgbClr val="003366"/>
                </a:solidFill>
                <a:latin typeface="Open Sauce"/>
                <a:ea typeface="Open Sauce"/>
                <a:cs typeface="Open Sauce"/>
                <a:sym typeface="Open Sauce"/>
              </a:rPr>
              <a:t>Manual appointment booking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92640" y="3798378"/>
            <a:ext cx="3346704" cy="238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6"/>
              </a:lnSpc>
            </a:pPr>
            <a:r>
              <a:rPr lang="en-US" sz="1924">
                <a:solidFill>
                  <a:srgbClr val="003366"/>
                </a:solidFill>
                <a:latin typeface="Open Sauce"/>
                <a:ea typeface="Open Sauce"/>
                <a:cs typeface="Open Sauce"/>
                <a:sym typeface="Open Sauce"/>
              </a:rPr>
              <a:t>Low efficiency, risk of errors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82112" y="4765691"/>
            <a:ext cx="2596896" cy="237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4"/>
              </a:lnSpc>
            </a:pPr>
            <a:r>
              <a:rPr lang="en-US" sz="1901">
                <a:solidFill>
                  <a:srgbClr val="003366"/>
                </a:solidFill>
                <a:latin typeface="Open Sauce"/>
                <a:ea typeface="Open Sauce"/>
                <a:cs typeface="Open Sauce"/>
                <a:sym typeface="Open Sauce"/>
              </a:rPr>
              <a:t>Appointment conflicts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92640" y="4614316"/>
            <a:ext cx="2779776" cy="574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1"/>
              </a:lnSpc>
            </a:pPr>
            <a:r>
              <a:rPr lang="en-US" sz="1992">
                <a:solidFill>
                  <a:srgbClr val="003366"/>
                </a:solidFill>
                <a:latin typeface="Open Sauce"/>
                <a:ea typeface="Open Sauce"/>
                <a:cs typeface="Open Sauce"/>
                <a:sym typeface="Open Sauce"/>
              </a:rPr>
              <a:t>Patient dissatisfaction, lost time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82112" y="5590732"/>
            <a:ext cx="2304288" cy="56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8"/>
              </a:lnSpc>
            </a:pPr>
            <a:r>
              <a:rPr lang="en-US" sz="2015">
                <a:solidFill>
                  <a:srgbClr val="003366"/>
                </a:solidFill>
                <a:latin typeface="Open Sauce"/>
                <a:ea typeface="Open Sauce"/>
                <a:cs typeface="Open Sauce"/>
                <a:sym typeface="Open Sauce"/>
              </a:rPr>
              <a:t>Difficulty checking doctor availability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92640" y="5753243"/>
            <a:ext cx="2157984" cy="237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4"/>
              </a:lnSpc>
            </a:pPr>
            <a:r>
              <a:rPr lang="en-US" sz="1901">
                <a:solidFill>
                  <a:srgbClr val="003366"/>
                </a:solidFill>
                <a:latin typeface="Open Sauce"/>
                <a:ea typeface="Open Sauce"/>
                <a:cs typeface="Open Sauce"/>
                <a:sym typeface="Open Sauce"/>
              </a:rPr>
              <a:t>Scheduling delays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82112" y="6537079"/>
            <a:ext cx="2633472" cy="59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061">
                <a:solidFill>
                  <a:srgbClr val="003366"/>
                </a:solidFill>
                <a:latin typeface="Open Sauce"/>
                <a:ea typeface="Open Sauce"/>
                <a:cs typeface="Open Sauce"/>
                <a:sym typeface="Open Sauce"/>
              </a:rPr>
              <a:t>Difficulty maintaining patient history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92640" y="6720221"/>
            <a:ext cx="2304288" cy="237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4"/>
              </a:lnSpc>
            </a:pPr>
            <a:r>
              <a:rPr lang="en-US" sz="1901">
                <a:solidFill>
                  <a:srgbClr val="003366"/>
                </a:solidFill>
                <a:latin typeface="Open Sauce"/>
                <a:ea typeface="Open Sauce"/>
                <a:cs typeface="Open Sauce"/>
                <a:sym typeface="Open Sauce"/>
              </a:rPr>
              <a:t>Incomplete records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82112" y="7526356"/>
            <a:ext cx="2670048" cy="551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947">
                <a:solidFill>
                  <a:srgbClr val="003366"/>
                </a:solidFill>
                <a:latin typeface="Open Sauce"/>
                <a:ea typeface="Open Sauce"/>
                <a:cs typeface="Open Sauce"/>
                <a:sym typeface="Open Sauce"/>
              </a:rPr>
              <a:t>Prescription records lost or hard to retrieve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92640" y="7686864"/>
            <a:ext cx="2505456" cy="238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6"/>
              </a:lnSpc>
            </a:pPr>
            <a:r>
              <a:rPr lang="en-US" sz="1924">
                <a:solidFill>
                  <a:srgbClr val="003366"/>
                </a:solidFill>
                <a:latin typeface="Open Sauce"/>
                <a:ea typeface="Open Sauce"/>
                <a:cs typeface="Open Sauce"/>
                <a:sym typeface="Open Sauce"/>
              </a:rPr>
              <a:t>Risk to patient safety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82112" y="8523376"/>
            <a:ext cx="2834640" cy="574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1"/>
              </a:lnSpc>
            </a:pPr>
            <a:r>
              <a:rPr lang="en-US" sz="1992">
                <a:solidFill>
                  <a:srgbClr val="003366"/>
                </a:solidFill>
                <a:latin typeface="Open Sauce"/>
                <a:ea typeface="Open Sauce"/>
                <a:cs typeface="Open Sauce"/>
                <a:sym typeface="Open Sauce"/>
              </a:rPr>
              <a:t>No automatic medicine interaction warnings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92640" y="8545676"/>
            <a:ext cx="2157984" cy="529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1"/>
              </a:lnSpc>
            </a:pPr>
            <a:r>
              <a:rPr lang="en-US" sz="1878">
                <a:solidFill>
                  <a:srgbClr val="003366"/>
                </a:solidFill>
                <a:latin typeface="Open Sauce"/>
                <a:ea typeface="Open Sauce"/>
                <a:cs typeface="Open Sauce"/>
                <a:sym typeface="Open Sauce"/>
              </a:rPr>
              <a:t>Potential harmful drug combinations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06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066800" y="361584"/>
            <a:ext cx="13551408" cy="120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66"/>
              </a:lnSpc>
            </a:pPr>
            <a:r>
              <a:rPr lang="en-US" sz="6950" b="1" dirty="0">
                <a:solidFill>
                  <a:srgbClr val="0023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Proposed Solution / Approach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4208" y="4846806"/>
            <a:ext cx="1097280" cy="422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</a:pPr>
            <a:r>
              <a:rPr lang="en-US" sz="2465" b="1">
                <a:solidFill>
                  <a:srgbClr val="0023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Patient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08576" y="4823247"/>
            <a:ext cx="2048256" cy="74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8"/>
              </a:lnSpc>
            </a:pPr>
            <a:r>
              <a:rPr lang="en-US" sz="2465" b="1">
                <a:solidFill>
                  <a:srgbClr val="0023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Appointment Management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66176" y="4854636"/>
            <a:ext cx="1408176" cy="690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0"/>
              </a:lnSpc>
            </a:pPr>
            <a:r>
              <a:rPr lang="en-US" sz="2317" b="1">
                <a:solidFill>
                  <a:srgbClr val="0023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Doctor Schedule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38560" y="4834179"/>
            <a:ext cx="1975104" cy="72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1"/>
              </a:lnSpc>
            </a:pPr>
            <a:r>
              <a:rPr lang="en-US" sz="2376" b="1">
                <a:solidFill>
                  <a:srgbClr val="0023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Prescription Management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42464" y="4843704"/>
            <a:ext cx="1097280" cy="71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7"/>
              </a:lnSpc>
            </a:pPr>
            <a:r>
              <a:rPr lang="en-US" sz="2406" b="1">
                <a:solidFill>
                  <a:srgbClr val="00235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Patient History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6464" y="6648213"/>
            <a:ext cx="6912864" cy="112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20" b="1" dirty="0">
                <a:solidFill>
                  <a:srgbClr val="00235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Digital schedules prevent overlapping appointments</a:t>
            </a:r>
            <a:br>
              <a:rPr lang="en-US" sz="2120" b="1" dirty="0">
                <a:solidFill>
                  <a:srgbClr val="00235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</a:br>
            <a:endParaRPr lang="en-US" sz="2120" b="1" dirty="0">
              <a:solidFill>
                <a:srgbClr val="002352"/>
              </a:solidFill>
              <a:latin typeface="Open Sauce Medium"/>
              <a:ea typeface="Open Sauce Medium"/>
              <a:cs typeface="Open Sauce Medium"/>
              <a:sym typeface="Open Sauce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26464" y="7292239"/>
            <a:ext cx="5998464" cy="36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171" b="1" dirty="0">
                <a:solidFill>
                  <a:srgbClr val="00235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Real-time availability checks before booking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6464" y="7950607"/>
            <a:ext cx="5614416" cy="36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171" b="1">
                <a:solidFill>
                  <a:srgbClr val="00235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Simple rescheduling for greater flexibility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82912" y="6648213"/>
            <a:ext cx="6309360" cy="346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20" b="1">
                <a:solidFill>
                  <a:srgbClr val="00235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Secure storage of patient and prescription data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82912" y="7306581"/>
            <a:ext cx="5705856" cy="346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20" b="1">
                <a:solidFill>
                  <a:srgbClr val="00235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Quick access to patient history on demand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82912" y="7950607"/>
            <a:ext cx="6108192" cy="36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171" b="1">
                <a:solidFill>
                  <a:srgbClr val="00235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Basic medicine interaction warnings included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0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221708"/>
            <a:ext cx="8266176" cy="1964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3"/>
              </a:lnSpc>
            </a:pPr>
            <a:r>
              <a:rPr lang="en-US" sz="7603" b="1" dirty="0">
                <a:solidFill>
                  <a:srgbClr val="00234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Technologies &amp; Techniques Used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89504" y="3654873"/>
            <a:ext cx="3621024" cy="336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3" b="1">
                <a:solidFill>
                  <a:srgbClr val="00234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Java programming language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89504" y="4074093"/>
            <a:ext cx="4718304" cy="28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781">
                <a:solidFill>
                  <a:srgbClr val="00234C"/>
                </a:solidFill>
                <a:latin typeface="Open Sauce"/>
                <a:ea typeface="Open Sauce"/>
                <a:cs typeface="Open Sauce"/>
                <a:sym typeface="Open Sauce"/>
              </a:rPr>
              <a:t>Robust, reliable, and platform-independent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89504" y="4857905"/>
            <a:ext cx="3694176" cy="337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3"/>
              </a:lnSpc>
            </a:pPr>
            <a:r>
              <a:rPr lang="en-US" sz="1980" b="1">
                <a:solidFill>
                  <a:srgbClr val="00234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Console-based menu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89504" y="5272685"/>
            <a:ext cx="3767328" cy="299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1819" dirty="0">
                <a:solidFill>
                  <a:srgbClr val="00234C"/>
                </a:solidFill>
                <a:latin typeface="Open Sauce"/>
                <a:ea typeface="Open Sauce"/>
                <a:cs typeface="Open Sauce"/>
                <a:sym typeface="Open Sauce"/>
              </a:rPr>
              <a:t>Simple and user-friendly interface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89504" y="6045830"/>
            <a:ext cx="1865376" cy="32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sz="1937" b="1">
                <a:solidFill>
                  <a:srgbClr val="00234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Core concepts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89504" y="6460199"/>
            <a:ext cx="6766560" cy="290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4">
                <a:solidFill>
                  <a:srgbClr val="00234C"/>
                </a:solidFill>
                <a:latin typeface="Open Sauce"/>
                <a:ea typeface="Open Sauce"/>
                <a:cs typeface="Open Sauce"/>
                <a:sym typeface="Open Sauce"/>
              </a:rPr>
              <a:t>Classes, objects, methods, collections, conditionals and loops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89504" y="7254776"/>
            <a:ext cx="3291840" cy="337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3"/>
              </a:lnSpc>
            </a:pPr>
            <a:r>
              <a:rPr lang="en-US" sz="1980" b="1">
                <a:solidFill>
                  <a:srgbClr val="00234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Smart logic and validation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89504" y="7674543"/>
            <a:ext cx="6035040" cy="28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781">
                <a:solidFill>
                  <a:srgbClr val="00234C"/>
                </a:solidFill>
                <a:latin typeface="Open Sauce"/>
                <a:ea typeface="Open Sauce"/>
                <a:cs typeface="Open Sauce"/>
                <a:sym typeface="Open Sauce"/>
              </a:rPr>
              <a:t>Input validation, searching, schedule conflict detection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89504" y="8483849"/>
            <a:ext cx="3346704" cy="32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sz="1937" b="1">
                <a:solidFill>
                  <a:srgbClr val="00234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Prescription safety checks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89504" y="8898218"/>
            <a:ext cx="5504688" cy="290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4">
                <a:solidFill>
                  <a:srgbClr val="00234C"/>
                </a:solidFill>
                <a:latin typeface="Open Sauce"/>
                <a:ea typeface="Open Sauce"/>
                <a:cs typeface="Open Sauce"/>
                <a:sym typeface="Open Sauce"/>
              </a:rPr>
              <a:t>Detects medicine interactions and issues warnings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6367BC-39FA-2FDC-BD6D-816BB5DD8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" y="-19050"/>
            <a:ext cx="18154055" cy="1019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840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905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0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2000" y="268191"/>
            <a:ext cx="12966192" cy="818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6"/>
              </a:lnSpc>
            </a:pPr>
            <a:r>
              <a:rPr lang="en-US" sz="6156" b="1" dirty="0">
                <a:solidFill>
                  <a:srgbClr val="133E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Features &amp; Expected Results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18638" y="2555155"/>
            <a:ext cx="2304288" cy="308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</a:pPr>
            <a:r>
              <a:rPr lang="en-US" sz="2406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FEATURES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79408" y="2596915"/>
            <a:ext cx="3054096" cy="307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6"/>
              </a:lnSpc>
            </a:pPr>
            <a:r>
              <a:rPr lang="en-US" sz="2346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EXPECTED RESULTS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12848" y="3650831"/>
            <a:ext cx="4261104" cy="276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9"/>
              </a:lnSpc>
            </a:pPr>
            <a:r>
              <a:rPr lang="en-US" sz="2069" b="1">
                <a:solidFill>
                  <a:srgbClr val="133E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Clash-free appointment booking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68512" y="3790352"/>
            <a:ext cx="4096512" cy="26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4"/>
              </a:lnSpc>
            </a:pPr>
            <a:r>
              <a:rPr lang="en-US" sz="2044" b="1">
                <a:solidFill>
                  <a:srgbClr val="133E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Reduced appointment conflicts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12848" y="4463179"/>
            <a:ext cx="4187952" cy="277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5"/>
              </a:lnSpc>
            </a:pPr>
            <a:r>
              <a:rPr lang="en-US" sz="2095" b="1">
                <a:solidFill>
                  <a:srgbClr val="133E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Doctor availability management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68512" y="4798478"/>
            <a:ext cx="4206240" cy="26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4"/>
              </a:lnSpc>
            </a:pPr>
            <a:r>
              <a:rPr lang="en-US" sz="2044" b="1">
                <a:solidFill>
                  <a:srgbClr val="133E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Easier doctor availability checks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12848" y="5274766"/>
            <a:ext cx="3566160" cy="268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n-US" sz="2120" b="1">
                <a:solidFill>
                  <a:srgbClr val="133E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Appointment rescheduling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68512" y="5806604"/>
            <a:ext cx="4096512" cy="26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4"/>
              </a:lnSpc>
            </a:pPr>
            <a:r>
              <a:rPr lang="en-US" sz="2044" b="1">
                <a:solidFill>
                  <a:srgbClr val="133E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Organized prescription records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12848" y="6098812"/>
            <a:ext cx="3419856" cy="277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5"/>
              </a:lnSpc>
            </a:pPr>
            <a:r>
              <a:rPr lang="en-US" sz="2095" b="1">
                <a:solidFill>
                  <a:srgbClr val="133E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Prescription management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68512" y="6818902"/>
            <a:ext cx="3986784" cy="277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5"/>
              </a:lnSpc>
            </a:pPr>
            <a:r>
              <a:rPr lang="en-US" sz="2095" b="1">
                <a:solidFill>
                  <a:srgbClr val="133E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Improved patient info retrieval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12848" y="6911810"/>
            <a:ext cx="3803904" cy="276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9"/>
              </a:lnSpc>
            </a:pPr>
            <a:r>
              <a:rPr lang="en-US" sz="2069" b="1">
                <a:solidFill>
                  <a:srgbClr val="133E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Medicine interaction warning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68512" y="7784747"/>
            <a:ext cx="3364992" cy="643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4"/>
              </a:lnSpc>
            </a:pPr>
            <a:r>
              <a:rPr lang="en-US" sz="2095" b="1">
                <a:solidFill>
                  <a:srgbClr val="133E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Basic safety warnings for medicine combinations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12848" y="7723072"/>
            <a:ext cx="3767328" cy="268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n-US" sz="2120" b="1">
                <a:solidFill>
                  <a:srgbClr val="133E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Patient history management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12848" y="8526544"/>
            <a:ext cx="3913632" cy="277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5"/>
              </a:lnSpc>
            </a:pPr>
            <a:r>
              <a:rPr lang="en-US" sz="2095" b="1">
                <a:solidFill>
                  <a:srgbClr val="133E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Simple menu-driven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0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59536" y="995174"/>
            <a:ext cx="5559552" cy="1093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sz="8181" b="1" spc="-245">
                <a:solidFill>
                  <a:srgbClr val="00336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2642699"/>
            <a:ext cx="5779008" cy="818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357" b="1" spc="-70">
                <a:solidFill>
                  <a:srgbClr val="00336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Provides a simple computerized solution to common clinic management problems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3921804"/>
            <a:ext cx="6510528" cy="1233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8"/>
              </a:lnSpc>
            </a:pPr>
            <a:r>
              <a:rPr lang="en-US" sz="2384" b="1" spc="-71">
                <a:solidFill>
                  <a:srgbClr val="00336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Integrates appointment scheduling, doctor availability, prescription management, interaction checking, and patient history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5736867"/>
            <a:ext cx="5413248" cy="1130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169" b="1" spc="-65">
                <a:solidFill>
                  <a:srgbClr val="00336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Demonstrates practical application of Java programming concepts to real-world healthcare challenges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9536" y="7999936"/>
            <a:ext cx="6236208" cy="1125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04"/>
              </a:lnSpc>
            </a:pPr>
            <a:r>
              <a:rPr lang="en-US" sz="8504" b="1" spc="-255">
                <a:solidFill>
                  <a:srgbClr val="2392A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9215266"/>
            <a:ext cx="2432304" cy="47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r>
              <a:rPr lang="en-US" sz="3549" b="1" spc="-106">
                <a:solidFill>
                  <a:srgbClr val="00336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315</Words>
  <Application>Microsoft Office PowerPoint</Application>
  <PresentationFormat>Custom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Open Sauce Medium</vt:lpstr>
      <vt:lpstr>Open Sauce Bold</vt:lpstr>
      <vt:lpstr>Open Sauce</vt:lpstr>
      <vt:lpstr>Open Sauce Heavy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 Appointment Manager</dc:title>
  <dc:creator>User 1</dc:creator>
  <cp:lastModifiedBy>User 1</cp:lastModifiedBy>
  <cp:revision>8</cp:revision>
  <dcterms:created xsi:type="dcterms:W3CDTF">2006-08-16T00:00:00Z</dcterms:created>
  <dcterms:modified xsi:type="dcterms:W3CDTF">2026-09-22T09:10:57Z</dcterms:modified>
  <dc:identifier>DAHV565ib4o</dc:identifier>
</cp:coreProperties>
</file>